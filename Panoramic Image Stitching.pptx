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75" r:id="rId7"/>
    <p:sldId id="276" r:id="rId8"/>
    <p:sldId id="261" r:id="rId9"/>
    <p:sldId id="277" r:id="rId10"/>
    <p:sldId id="278" r:id="rId11"/>
    <p:sldId id="262" r:id="rId12"/>
    <p:sldId id="274" r:id="rId13"/>
    <p:sldId id="263" r:id="rId14"/>
    <p:sldId id="27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8774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27D95-715D-D31A-27BC-61E7396A7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FE1450-B793-85E8-9433-EF521DCE44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D30B64-9DCB-B2C1-BFCB-32E2EFC7D0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0F4AC-85F1-B013-097A-71E28D4D5D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542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43D4F-766C-8A96-EB72-2F65B6344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9C3E6-18AC-658F-B532-CAE7BCBC50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EE35D1-AFE8-A58A-5684-B3C19DAF9A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794A7-5CC9-7DD7-1DD8-C75C027D14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942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BA891-235D-5F8C-6AFF-091C705E6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9A0E5-A1D3-E092-8D3C-A8D949CC1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388CD-5B84-8A04-9387-CD65EEE310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B2BA4-1E49-F19D-E8BF-415ECFF05F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2594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14BE4-5EFE-EFBC-98F0-8B30CB163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4F8418-BF13-4E1B-A562-95758B59D0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DDD076-5834-B467-A56C-90EEA333CE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8D6D8-143F-17E5-252F-764A3EB3A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379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C2A0B-877F-2A46-C808-E27439C2D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586F0-8CB9-61B0-A0FB-27D67538A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28F44F-A572-092F-C6F9-EF5109C47B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A2930C-91D8-CF3A-01AC-90C47B00CA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5776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3F2EF-4BA4-C2CF-68AA-CA711869A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0B60E-8764-FE15-371D-5711B19B9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76979C-D611-FBD5-5283-70D1014013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C7FD88-E2BA-0BD3-9E4D-F89F80EF53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0467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0522" y="1474763"/>
            <a:ext cx="7482833" cy="685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Panoramic Image Stitching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2433200" y="2312789"/>
            <a:ext cx="427747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Feature-Based Registration and Blending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308354" y="2937495"/>
            <a:ext cx="2527169" cy="239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Image Processing Project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087730" y="3482082"/>
            <a:ext cx="2968541" cy="1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Mohanad Elbehairy • Ahmed Hany • Eyad Ahmed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609575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Objectives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575" y="1249660"/>
            <a:ext cx="8083346" cy="27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301" y="1676177"/>
            <a:ext cx="7620124" cy="1153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multiple overlapping photos into one wide panorama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images with sub-pixel accuracy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 real-world variations (lighting, distortion, parallax)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575" y="3058542"/>
            <a:ext cx="8083346" cy="27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Objectives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301" y="3485058"/>
            <a:ext cx="7620124" cy="1153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 feature detection and matching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Reliable geometric alignment with failure recovery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blending across overlaps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1249660"/>
            <a:ext cx="7924849" cy="990451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575" y="2468687"/>
            <a:ext cx="7924849" cy="990451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575" y="3687712"/>
            <a:ext cx="7924849" cy="990451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575" y="609574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Applications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38150" y="1478235"/>
            <a:ext cx="761705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Photography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38150" y="1798216"/>
            <a:ext cx="7617053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&amp; architectural panoramas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8150" y="2697261"/>
            <a:ext cx="761705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38150" y="3017241"/>
            <a:ext cx="7617053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Medical, industrial &amp; satellite mosaics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8150" y="3916288"/>
            <a:ext cx="761705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Tours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38150" y="4236268"/>
            <a:ext cx="7617053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360° immersive environments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609574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Processing Pipeline</a:t>
            </a:r>
            <a:endParaRPr lang="en-US" sz="27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A74B21-8158-9271-7139-DB1592C725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080" y="1271036"/>
            <a:ext cx="5975840" cy="36332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609574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Detection &amp; Matching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575" y="1173384"/>
            <a:ext cx="8083346" cy="25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16"/>
              </a:lnSpc>
              <a:buNone/>
            </a:pPr>
            <a:r>
              <a:rPr lang="en-US" sz="16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Detectors</a:t>
            </a:r>
            <a:endParaRPr lang="en-US" sz="1680" dirty="0"/>
          </a:p>
        </p:txBody>
      </p:sp>
      <p:sp>
        <p:nvSpPr>
          <p:cNvPr id="4" name="Text 2"/>
          <p:cNvSpPr/>
          <p:nvPr/>
        </p:nvSpPr>
        <p:spPr>
          <a:xfrm>
            <a:off x="914301" y="1551284"/>
            <a:ext cx="7620124" cy="731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SIFT: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Scale/rotation invariant, robust but slower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Fast binary descriptors, lightweight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575" y="2465212"/>
            <a:ext cx="8083346" cy="25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16"/>
              </a:lnSpc>
              <a:buNone/>
            </a:pPr>
            <a:r>
              <a:rPr lang="en-US" sz="16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Strategy</a:t>
            </a:r>
            <a:endParaRPr lang="en-US" sz="1680" dirty="0"/>
          </a:p>
        </p:txBody>
      </p:sp>
      <p:sp>
        <p:nvSpPr>
          <p:cNvPr id="6" name="Text 4"/>
          <p:cNvSpPr/>
          <p:nvPr/>
        </p:nvSpPr>
        <p:spPr>
          <a:xfrm>
            <a:off x="914301" y="2843113"/>
            <a:ext cx="7620124" cy="731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KNN matching (k=2) + Lowe's ratio test (r ≈ 0.7-0.8)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Mutual (bidirectional) consistency checks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B30303-9237-AC1D-C16D-28F6192B8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C421FE-25BB-3AB7-B6DB-5785F99AF3B5}"/>
              </a:ext>
            </a:extLst>
          </p:cNvPr>
          <p:cNvSpPr/>
          <p:nvPr/>
        </p:nvSpPr>
        <p:spPr>
          <a:xfrm>
            <a:off x="609575" y="609574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Detection</a:t>
            </a:r>
            <a:endParaRPr lang="en-US" sz="27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22605FB-37D5-1DD4-BB60-99E0E54A4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1583" y="1199840"/>
            <a:ext cx="5700833" cy="364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813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0A0344-94E3-04CB-F6B5-4FA4F6477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A2332E2-84DC-E285-B9BF-AD737515F5A2}"/>
              </a:ext>
            </a:extLst>
          </p:cNvPr>
          <p:cNvSpPr/>
          <p:nvPr/>
        </p:nvSpPr>
        <p:spPr>
          <a:xfrm>
            <a:off x="609575" y="609574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</a:t>
            </a:r>
            <a:endParaRPr lang="en-US" sz="27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D42D97E-99AC-7359-D43C-2E03175EB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3823" y="1190398"/>
            <a:ext cx="4514849" cy="377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7540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609574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Homography &amp; Robust Estimation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575" y="1173384"/>
            <a:ext cx="8083346" cy="239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Homography: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3×3 projective transformation mapping image points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575" y="1565546"/>
            <a:ext cx="8083346" cy="25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16"/>
              </a:lnSpc>
              <a:buNone/>
            </a:pPr>
            <a:r>
              <a:rPr lang="en-US" sz="16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It Works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914301" y="1943446"/>
            <a:ext cx="7620124" cy="1153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rotation around optical center (panorama capture)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Approximately planar scenes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parallax (camera far from scene)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575" y="3280046"/>
            <a:ext cx="8083346" cy="25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16"/>
              </a:lnSpc>
              <a:buNone/>
            </a:pPr>
            <a:r>
              <a:rPr lang="en-US" sz="16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 Estimation</a:t>
            </a:r>
            <a:endParaRPr lang="en-US" sz="1680" dirty="0"/>
          </a:p>
        </p:txBody>
      </p:sp>
      <p:sp>
        <p:nvSpPr>
          <p:cNvPr id="7" name="Text 5"/>
          <p:cNvSpPr/>
          <p:nvPr/>
        </p:nvSpPr>
        <p:spPr>
          <a:xfrm>
            <a:off x="609575" y="3657946"/>
            <a:ext cx="8083346" cy="239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RANSAC/USAC: Iteratively sample minimal sets, estimate H, count inliers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C05D59-5D8D-1408-DEE3-1E7A1AC93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EEE1262-5ECE-9C91-809F-90E0FFCB8F5A}"/>
              </a:ext>
            </a:extLst>
          </p:cNvPr>
          <p:cNvSpPr/>
          <p:nvPr/>
        </p:nvSpPr>
        <p:spPr>
          <a:xfrm>
            <a:off x="609575" y="609574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Homography</a:t>
            </a: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7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E672E5-6466-3275-C254-726E19F0F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75" y="1879276"/>
            <a:ext cx="8083346" cy="214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634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E2926C-87F7-9727-80A0-BC7630B8D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86AB286-1129-2255-8E5A-A7C539609102}"/>
              </a:ext>
            </a:extLst>
          </p:cNvPr>
          <p:cNvSpPr/>
          <p:nvPr/>
        </p:nvSpPr>
        <p:spPr>
          <a:xfrm>
            <a:off x="609575" y="609574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 Estimation</a:t>
            </a:r>
            <a:endParaRPr lang="en-US" sz="27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95EA033-1D7D-8FFC-272B-609846334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3110" y="1120140"/>
            <a:ext cx="4801662" cy="384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101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609574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Cylindrical Projection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575" y="1173384"/>
            <a:ext cx="8083346" cy="239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wide-angle distortion when camera rotates around optical center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575" y="1641821"/>
            <a:ext cx="8083346" cy="237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72"/>
              </a:lnSpc>
              <a:buNone/>
            </a:pPr>
            <a:r>
              <a:rPr lang="en-US" sz="156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</a:t>
            </a:r>
            <a:endParaRPr lang="en-US" sz="1560" dirty="0"/>
          </a:p>
        </p:txBody>
      </p:sp>
      <p:sp>
        <p:nvSpPr>
          <p:cNvPr id="5" name="Text 3"/>
          <p:cNvSpPr/>
          <p:nvPr/>
        </p:nvSpPr>
        <p:spPr>
          <a:xfrm>
            <a:off x="914301" y="2001366"/>
            <a:ext cx="7620124" cy="1153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 pixel coordinates by focal length f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to cylinder: xc = tan(x), yc = y·cos(x)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back to pixels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575" y="3337966"/>
            <a:ext cx="8083346" cy="239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f: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Larger f = weaker distortion; smaller f = stronger correction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88D799-DCD5-A49F-A0A6-5A882E184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7481487-D9CA-7C02-A8DA-9CB05157F929}"/>
              </a:ext>
            </a:extLst>
          </p:cNvPr>
          <p:cNvSpPr/>
          <p:nvPr/>
        </p:nvSpPr>
        <p:spPr>
          <a:xfrm>
            <a:off x="609575" y="609574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Cylindrical Projection</a:t>
            </a:r>
            <a:endParaRPr lang="en-US" sz="27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06E1D6E-B201-1746-FFD7-1D4A10ACA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311" y="1257300"/>
            <a:ext cx="6727378" cy="367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659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609574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Blending &amp; Seam Reduction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575" y="1173384"/>
            <a:ext cx="8083346" cy="239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pasting creates visible seams. Solution: feather blending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575" y="1641821"/>
            <a:ext cx="8083346" cy="237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72"/>
              </a:lnSpc>
              <a:buNone/>
            </a:pPr>
            <a:r>
              <a:rPr lang="en-US" sz="156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Feather Blending Formula</a:t>
            </a:r>
            <a:endParaRPr lang="en-US" sz="1560" dirty="0"/>
          </a:p>
        </p:txBody>
      </p:sp>
      <p:sp>
        <p:nvSpPr>
          <p:cNvPr id="5" name="Text 3"/>
          <p:cNvSpPr/>
          <p:nvPr/>
        </p:nvSpPr>
        <p:spPr>
          <a:xfrm>
            <a:off x="609575" y="2001366"/>
            <a:ext cx="7924849" cy="544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I(x,y) = α(x,y)·I₂(x,y) + (1−α(x,y))·I₁(x,y)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575" y="2698128"/>
            <a:ext cx="8083346" cy="239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derived using distance transform for smooth weight transitions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9BFB1F-1E49-C69A-CB91-57D66CC20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58851E-5863-E20A-6271-E55841224C89}"/>
              </a:ext>
            </a:extLst>
          </p:cNvPr>
          <p:cNvSpPr/>
          <p:nvPr/>
        </p:nvSpPr>
        <p:spPr>
          <a:xfrm>
            <a:off x="609575" y="609574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872"/>
              </a:lnSpc>
            </a:pPr>
            <a:r>
              <a:rPr lang="en-US" sz="2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Feather Blending</a:t>
            </a:r>
            <a:endParaRPr lang="en-US" sz="28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FD74C0-3F21-C43B-7D12-3F82957E3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2518" y="1021084"/>
            <a:ext cx="4337459" cy="3911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249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609572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&amp; Solutions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575" y="1173384"/>
            <a:ext cx="8083346" cy="237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72"/>
              </a:lnSpc>
              <a:buNone/>
            </a:pPr>
            <a:r>
              <a:rPr lang="en-US" sz="156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Homography Sanity Checks</a:t>
            </a:r>
            <a:endParaRPr lang="en-US" sz="1560" dirty="0"/>
          </a:p>
        </p:txBody>
      </p:sp>
      <p:sp>
        <p:nvSpPr>
          <p:cNvPr id="4" name="Text 2"/>
          <p:cNvSpPr/>
          <p:nvPr/>
        </p:nvSpPr>
        <p:spPr>
          <a:xfrm>
            <a:off x="914301" y="1532930"/>
            <a:ext cx="7620124" cy="1153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extreme perspective (|H₃₁| or |H₃₂| too large)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oversized canvas allocations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black wedge artifacts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575" y="2869527"/>
            <a:ext cx="8083346" cy="237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72"/>
              </a:lnSpc>
              <a:buNone/>
            </a:pPr>
            <a:r>
              <a:rPr lang="en-US" sz="156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Affine Fallback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609575" y="3229073"/>
            <a:ext cx="8083346" cy="239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homography fails, use partial affine (rotation + scale + translation)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1249659"/>
            <a:ext cx="7924849" cy="1527845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575" y="3006077"/>
            <a:ext cx="7924849" cy="1527845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575" y="609572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Multi-Image Stitching Modes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38150" y="1478235"/>
            <a:ext cx="761705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Mode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38150" y="1798216"/>
            <a:ext cx="7617053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Stitch left-to-right: (((I₁ ⊕ I₂) ⊕ I₃)...)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38150" y="2087687"/>
            <a:ext cx="7617053" cy="191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2"/>
              </a:lnSpc>
              <a:buNone/>
            </a:pPr>
            <a:r>
              <a:rPr lang="en-US" sz="10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but may accumulate drift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838150" y="3234654"/>
            <a:ext cx="761705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Center-Reference Mode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38150" y="3554634"/>
            <a:ext cx="7617053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at middle, stitch outward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8150" y="3844105"/>
            <a:ext cx="7617053" cy="191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12"/>
              </a:lnSpc>
              <a:buNone/>
            </a:pPr>
            <a:r>
              <a:rPr lang="en-US" sz="10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Distributes errors, reduces drift</a:t>
            </a:r>
            <a:endParaRPr lang="en-US" sz="10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609572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Pipeline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301" y="1173384"/>
            <a:ext cx="7620124" cy="3267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Resize: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Speed + memory control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Cylindrical Warp: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Wide-angle correction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&amp; Describe: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SIFT/ORB feature extraction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Mutual Ratio Matches: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Robust matching pipeline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Homography: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RANSAC/USAC estimation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Warp &amp; Compose: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Canvas alignment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Feather Blend: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Seam reduction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Borders: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Remove black regions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609572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Factors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301" y="1173384"/>
            <a:ext cx="7620124" cy="199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SIFT: more reliable on weak texture/blur scenes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ORB: faster performance on clear corner/texture images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Cylindrical projection: reduces wedge artifacts in wide panoramas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 caps: prevent memory overflow from oversized transforms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Center-reference stitching: minimizes drift with many images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609572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Robustness &amp; Failure Modes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575" y="1173384"/>
            <a:ext cx="8083346" cy="237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72"/>
              </a:lnSpc>
              <a:buNone/>
            </a:pPr>
            <a:r>
              <a:rPr lang="en-US" sz="156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Failure Causes</a:t>
            </a:r>
            <a:endParaRPr lang="en-US" sz="1560" dirty="0"/>
          </a:p>
        </p:txBody>
      </p:sp>
      <p:sp>
        <p:nvSpPr>
          <p:cNvPr id="4" name="Text 2"/>
          <p:cNvSpPr/>
          <p:nvPr/>
        </p:nvSpPr>
        <p:spPr>
          <a:xfrm>
            <a:off x="914301" y="1532930"/>
            <a:ext cx="7620124" cy="1576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Insufficient overlap between images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parallax (near objects + camera translation)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Severe blur or repeated textures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lighting differences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609572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Criteria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575" y="1173384"/>
            <a:ext cx="8083346" cy="237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72"/>
              </a:lnSpc>
              <a:buNone/>
            </a:pPr>
            <a:r>
              <a:rPr lang="en-US" sz="156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Metrics</a:t>
            </a:r>
            <a:endParaRPr lang="en-US" sz="1560" dirty="0"/>
          </a:p>
        </p:txBody>
      </p:sp>
      <p:sp>
        <p:nvSpPr>
          <p:cNvPr id="4" name="Text 2"/>
          <p:cNvSpPr/>
          <p:nvPr/>
        </p:nvSpPr>
        <p:spPr>
          <a:xfrm>
            <a:off x="914301" y="1532930"/>
            <a:ext cx="7620124" cy="1576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alignment quality in overlap regions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seam with minimal visible artifacts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memory overflow or crashes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inlier ratio from feature matching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575" y="3292199"/>
            <a:ext cx="8083346" cy="237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72"/>
              </a:lnSpc>
              <a:buNone/>
            </a:pPr>
            <a:r>
              <a:rPr lang="en-US" sz="156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Quality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609575" y="3651745"/>
            <a:ext cx="8083346" cy="239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coherent panoramas with automatic black border removal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75" y="609572"/>
            <a:ext cx="808334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Enhancements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301" y="1173384"/>
            <a:ext cx="7620124" cy="199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Multiband blending for improved color consistency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exposure compensation across images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optimization (bundle adjustment) to reduce drift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GPU acceleration for large image sets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learning-based seam detection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74900" y="1712761"/>
            <a:ext cx="1594076" cy="41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575" y="2352842"/>
            <a:ext cx="7924849" cy="533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feature-based panorama stitching system combining robust feature detection, intelligent matching, and practical robustness mechanisms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09397" y="3190875"/>
            <a:ext cx="7125206" cy="239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Delivering high-quality panoramas with diagnostic tools for success and failure interpretation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24039" y="1804169"/>
            <a:ext cx="2495922" cy="548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080532" y="2581294"/>
            <a:ext cx="982935" cy="26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922768" y="3152673"/>
            <a:ext cx="3298463" cy="1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Image Processing Project • Panoramic Stitching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659</Words>
  <Application>Microsoft Office PowerPoint</Application>
  <PresentationFormat>On-screen Show (16:9)</PresentationFormat>
  <Paragraphs>132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Ahmed Hany AboElsoud</cp:lastModifiedBy>
  <cp:revision>3</cp:revision>
  <dcterms:created xsi:type="dcterms:W3CDTF">2025-12-28T00:54:41Z</dcterms:created>
  <dcterms:modified xsi:type="dcterms:W3CDTF">2025-12-28T09:06:06Z</dcterms:modified>
</cp:coreProperties>
</file>